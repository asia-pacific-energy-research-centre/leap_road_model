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62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704239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PACIFIC ENERGY RESEARCH CENTRE · LEAP MODELLING SYSTEM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882939" y="571500"/>
            <a:ext cx="1452563" cy="5142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" y="1257102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2"/>
          <p:cNvSpPr/>
          <p:nvPr/>
        </p:nvSpPr>
        <p:spPr>
          <a:xfrm>
            <a:off x="952500" y="3125887"/>
            <a:ext cx="180213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INTRODUCTION FOR RESEARCHERS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3659188"/>
            <a:ext cx="18021301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08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transport model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952500" y="4897438"/>
            <a:ext cx="11576685" cy="1339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5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APERC turns assumptions into road energy demand and how the model is prepared before it reaches LEAP.</a:t>
            </a:r>
            <a:endParaRPr lang="en-US" sz="2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2" b="2"/>
          <a:stretch/>
        </p:blipFill>
        <p:spPr>
          <a:xfrm>
            <a:off x="952500" y="8039199"/>
            <a:ext cx="4052921" cy="227607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596" r="596"/>
          <a:stretch/>
        </p:blipFill>
        <p:spPr>
          <a:xfrm>
            <a:off x="5062472" y="8039199"/>
            <a:ext cx="4052921" cy="227607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596" r="596"/>
          <a:stretch/>
        </p:blipFill>
        <p:spPr>
          <a:xfrm>
            <a:off x="9172443" y="8039199"/>
            <a:ext cx="4052921" cy="227607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l="889" r="889"/>
          <a:stretch/>
        </p:blipFill>
        <p:spPr>
          <a:xfrm>
            <a:off x="13282415" y="8039199"/>
            <a:ext cx="4053086" cy="2276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369732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WHAT THE MODEL IS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estimates road transport energy demand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611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transport model is part of the APERC LEAP modelling system. It estimates future energy demand for passenger and freight vehicles, by fuel.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952500" y="4875262"/>
            <a:ext cx="88440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TURNS INTO ENERGY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2500" y="5313312"/>
            <a:ext cx="8281227" cy="1080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translates assumptions about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stock, sales, technology uptake, mileage and fuel economy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energy demand by fuel — for every vehicle and drive type on the road.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9678294" y="4875262"/>
            <a:ext cx="84229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IT COVERS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78294" y="5465712"/>
            <a:ext cx="7886924" cy="35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cars, motorcycles and buses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9678294" y="5932107"/>
            <a:ext cx="7657208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9678294" y="6095090"/>
            <a:ext cx="7886924" cy="352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light commercial vehicles and trucks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678294" y="6561485"/>
            <a:ext cx="7657208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1"/>
          <p:cNvSpPr/>
          <p:nvPr/>
        </p:nvSpPr>
        <p:spPr>
          <a:xfrm>
            <a:off x="9678294" y="6724468"/>
            <a:ext cx="7886924" cy="352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split further by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type and fuel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293588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CORE IDEA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built around one simple idea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3635961" y="4365838"/>
            <a:ext cx="1831562" cy="757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5616873" y="4399569"/>
            <a:ext cx="343264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88505" y="4365839"/>
            <a:ext cx="2055481" cy="757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7781661" y="4399569"/>
            <a:ext cx="343264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95969" y="4388700"/>
            <a:ext cx="2519233" cy="757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10586245" y="4399569"/>
            <a:ext cx="343264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0472432" y="4422431"/>
            <a:ext cx="4995175" cy="757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economy</a:t>
            </a:r>
            <a:endParaRPr lang="en-US" sz="4650" dirty="0"/>
          </a:p>
        </p:txBody>
      </p:sp>
      <p:sp>
        <p:nvSpPr>
          <p:cNvPr id="13" name="Text 10"/>
          <p:cNvSpPr/>
          <p:nvPr/>
        </p:nvSpPr>
        <p:spPr>
          <a:xfrm>
            <a:off x="5078776" y="5228211"/>
            <a:ext cx="22497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on the road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34821" y="5228211"/>
            <a:ext cx="22215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per vehicle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332840" y="5228211"/>
            <a:ext cx="29060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used per kilometre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061335" y="6019312"/>
            <a:ext cx="12165330" cy="822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2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 the model holds many vehicle types, drive types and fuels — but the logic stays this simple. You don't need to follow every internal calculation to use it confidently.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11751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WHAT THE MODEL ASKS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high level, it answers four questions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3"/>
          <p:cNvSpPr/>
          <p:nvPr/>
        </p:nvSpPr>
        <p:spPr>
          <a:xfrm>
            <a:off x="952500" y="5544885"/>
            <a:ext cx="7762876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52500" y="4820919"/>
            <a:ext cx="298285" cy="476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1441151" y="4859019"/>
            <a:ext cx="5891977" cy="38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vehicles are on the road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572626" y="5544885"/>
            <a:ext cx="7762876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7"/>
          <p:cNvSpPr/>
          <p:nvPr/>
        </p:nvSpPr>
        <p:spPr>
          <a:xfrm>
            <a:off x="9572626" y="4820919"/>
            <a:ext cx="298285" cy="476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10061278" y="4859019"/>
            <a:ext cx="5304228" cy="38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kinds of vehicles they are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52500" y="5841218"/>
            <a:ext cx="298285" cy="476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3" name="Text 10"/>
          <p:cNvSpPr/>
          <p:nvPr/>
        </p:nvSpPr>
        <p:spPr>
          <a:xfrm>
            <a:off x="1441152" y="5879318"/>
            <a:ext cx="5153985" cy="38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older vehicles are replaced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572626" y="5841218"/>
            <a:ext cx="298285" cy="476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5" name="Text 12"/>
          <p:cNvSpPr/>
          <p:nvPr/>
        </p:nvSpPr>
        <p:spPr>
          <a:xfrm>
            <a:off x="10061278" y="5879318"/>
            <a:ext cx="5974176" cy="380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fuels and technologies new vehicles use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49841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WHAT THE MODEL COVERS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vehicle, drive and fuel has its own branch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3"/>
          <p:cNvSpPr/>
          <p:nvPr/>
        </p:nvSpPr>
        <p:spPr>
          <a:xfrm>
            <a:off x="952500" y="2215596"/>
            <a:ext cx="3048000" cy="6878837"/>
          </a:xfrm>
          <a:prstGeom prst="rect">
            <a:avLst/>
          </a:prstGeom>
          <a:solidFill>
            <a:srgbClr val="F2F5FA"/>
          </a:solidFill>
          <a:ln w="10583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71414" y="2416680"/>
            <a:ext cx="2010007" cy="64766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7248" y="3433948"/>
            <a:ext cx="12249151" cy="177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branch divides into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road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road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path is split by drive type and fuel, so every leaf carries its own stock, mileage, fuel economy and energy. Detail is concentrated where it earns its place: </a:t>
            </a:r>
          </a:p>
          <a:p>
            <a:pPr marL="0" indent="0" algn="l">
              <a:lnSpc>
                <a:spcPct val="146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carry the most branches, as they are usually the largest part of the fleet and they are where we have the best data</a:t>
            </a:r>
            <a:endParaRPr lang="en-US" sz="1875" dirty="0"/>
          </a:p>
        </p:txBody>
      </p:sp>
      <p:sp>
        <p:nvSpPr>
          <p:cNvPr id="9" name="Shape 5"/>
          <p:cNvSpPr/>
          <p:nvPr/>
        </p:nvSpPr>
        <p:spPr>
          <a:xfrm>
            <a:off x="4667250" y="5584073"/>
            <a:ext cx="6067392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6"/>
          <p:cNvSpPr/>
          <p:nvPr/>
        </p:nvSpPr>
        <p:spPr>
          <a:xfrm>
            <a:off x="4667250" y="5785156"/>
            <a:ext cx="66741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7250" y="6156565"/>
            <a:ext cx="667413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· motorcycles · buses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1267944" y="5584073"/>
            <a:ext cx="6067558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9"/>
          <p:cNvSpPr/>
          <p:nvPr/>
        </p:nvSpPr>
        <p:spPr>
          <a:xfrm>
            <a:off x="11267944" y="5785156"/>
            <a:ext cx="6674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267944" y="6156565"/>
            <a:ext cx="667431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commercial vehicles · trucks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667250" y="6666880"/>
            <a:ext cx="6067392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Text 12"/>
          <p:cNvSpPr/>
          <p:nvPr/>
        </p:nvSpPr>
        <p:spPr>
          <a:xfrm>
            <a:off x="4667250" y="6867963"/>
            <a:ext cx="66741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TYPES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67250" y="7239373"/>
            <a:ext cx="667413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· hybrid · plug-in · battery · fuel cell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1267944" y="6666880"/>
            <a:ext cx="6067558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Text 15"/>
          <p:cNvSpPr/>
          <p:nvPr/>
        </p:nvSpPr>
        <p:spPr>
          <a:xfrm>
            <a:off x="11267944" y="6867963"/>
            <a:ext cx="6674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IN A FUEL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1267944" y="7239373"/>
            <a:ext cx="667431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· diesel · electricity · hydrogen · more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42510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WHY TURNOVER MATTERS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technology reaches the road slowly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5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shares describe new vehicles, not the whole fleet. The fleet changes only as older vehicles retire — so an assumption can take years to show up in energy demand.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952500" y="5045164"/>
            <a:ext cx="9055398" cy="5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80% electric sales share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52500" y="5571519"/>
            <a:ext cx="9055398" cy="5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an 80% electric fleet.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952500" y="6326574"/>
            <a:ext cx="7456171" cy="733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80% of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are electric. The share on the road rises only gradually, as today's vehicles reach the end of their life.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9851430" y="4360720"/>
            <a:ext cx="7484071" cy="3345491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9851430" y="7695628"/>
            <a:ext cx="7484071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Shape 9"/>
          <p:cNvSpPr/>
          <p:nvPr/>
        </p:nvSpPr>
        <p:spPr>
          <a:xfrm>
            <a:off x="9851430" y="4360720"/>
            <a:ext cx="7484071" cy="21167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Shape 10"/>
          <p:cNvSpPr/>
          <p:nvPr/>
        </p:nvSpPr>
        <p:spPr>
          <a:xfrm>
            <a:off x="9851430" y="4360720"/>
            <a:ext cx="10583" cy="3345491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Shape 11"/>
          <p:cNvSpPr/>
          <p:nvPr/>
        </p:nvSpPr>
        <p:spPr>
          <a:xfrm>
            <a:off x="17324917" y="4360720"/>
            <a:ext cx="10583" cy="3345491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10204814" y="4705670"/>
            <a:ext cx="74550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204814" y="5143721"/>
            <a:ext cx="6980622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sets the </a:t>
            </a:r>
            <a:r>
              <a:rPr lang="en-US" sz="180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change </a:t>
            </a: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young, long-lived fleet turns over slowly; an older fleet — or one retired faster by policy — turns over more quickly.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204814" y="6343441"/>
            <a:ext cx="6980622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survival profiles, the age of today's fleet and the sales trajectory are prepared together: they set the pace at which any scenario takes effect.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27194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HOW THE WORK IS SPLIT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part of the model is prepared before LEAP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6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begins outside LEAP. This is more than data preparation: stock, sales, retirements and energy have to stay internally consistent, so they are built together first.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818800" y="3186720"/>
            <a:ext cx="8029609" cy="25958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818800" y="5772030"/>
            <a:ext cx="80296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818800" y="3186720"/>
            <a:ext cx="8029609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818800" y="3186720"/>
            <a:ext cx="10583" cy="259589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8837825" y="3186720"/>
            <a:ext cx="10583" cy="259589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1172184" y="3531671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OUTSIDE LEAP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72184" y="3969721"/>
            <a:ext cx="8055124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interface and a Python workflow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172184" y="4447625"/>
            <a:ext cx="7542525" cy="1038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review and update the main assumptions in one place; the Python workflow then turns them into a calibrated, LEAP-ready set of inputs and runs quality checks.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72192" y="3186720"/>
            <a:ext cx="8029609" cy="2595893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9172192" y="5772030"/>
            <a:ext cx="8029609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9172192" y="3186720"/>
            <a:ext cx="8029609" cy="21167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5"/>
          <p:cNvSpPr/>
          <p:nvPr/>
        </p:nvSpPr>
        <p:spPr>
          <a:xfrm>
            <a:off x="9172192" y="3186720"/>
            <a:ext cx="10583" cy="259589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6"/>
          <p:cNvSpPr/>
          <p:nvPr/>
        </p:nvSpPr>
        <p:spPr>
          <a:xfrm>
            <a:off x="17191218" y="3186720"/>
            <a:ext cx="10583" cy="259589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7"/>
          <p:cNvSpPr/>
          <p:nvPr/>
        </p:nvSpPr>
        <p:spPr>
          <a:xfrm>
            <a:off x="9525577" y="3531671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IN LEAP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525577" y="3969721"/>
            <a:ext cx="8055124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projection platform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525577" y="4447625"/>
            <a:ext cx="7542525" cy="70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prepared inputs are imported, LEAP runs the official road transport projection as part of the wider APERC energy system model.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  <p:pic>
        <p:nvPicPr>
          <p:cNvPr id="26" name="Picture 25" descr="The image displays a computer screen with a window open, likely showing a table or list of data, including a message indicating a running process and a count of rows being sent to a backend.&#10;&#10;AI-generated content may be incorrect.">
            <a:extLst>
              <a:ext uri="{FF2B5EF4-FFF2-40B4-BE49-F238E27FC236}">
                <a16:creationId xmlns:a16="http://schemas.microsoft.com/office/drawing/2014/main" id="{6E00C565-FD4A-DC6D-3C87-B42A20772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8" y="6068297"/>
            <a:ext cx="7763435" cy="3827568"/>
          </a:xfrm>
          <a:prstGeom prst="rect">
            <a:avLst/>
          </a:prstGeom>
        </p:spPr>
      </p:pic>
      <p:pic>
        <p:nvPicPr>
          <p:cNvPr id="28" name="Picture 27" descr="The image is a data visualization in a software application, displaying a table and a Sankey diagram that illustrates various energy profiles, costs, and shares for different vehicle types and fuels, such as electric, hybrid, and internal combustion engines.&#10;&#10;AI-generated content may be incorrect.">
            <a:extLst>
              <a:ext uri="{FF2B5EF4-FFF2-40B4-BE49-F238E27FC236}">
                <a16:creationId xmlns:a16="http://schemas.microsoft.com/office/drawing/2014/main" id="{30299392-9F52-E007-9765-5AF43A709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308" y="6033260"/>
            <a:ext cx="7019502" cy="37965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7070"/>
            <a:ext cx="487822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THE END-TO-END WORKFLOW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457068"/>
            <a:ext cx="914466" cy="323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" y="914138"/>
            <a:ext cx="16383001" cy="19017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7231" t="4228" r="6487" b="6485"/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79072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THE RESEARCHER INTERFACE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review, update and document inputs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5"/>
            <a:ext cx="15735300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browser-based interface gives users a single view of the main assumptions. The inputs fall into three groups.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952500" y="4451174"/>
            <a:ext cx="5270500" cy="324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952500" y="7681241"/>
            <a:ext cx="5270500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52500" y="4451174"/>
            <a:ext cx="5270500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952500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6212417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1305884" y="4796124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05884" y="523417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Base-year evidence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05884" y="5712079"/>
            <a:ext cx="4700644" cy="1683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of stock, mileage and fuel economy — plus reconciliation settings such as weights, bounds and adjustment rules that align the data with ESTO energy balances.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08750" y="4451174"/>
            <a:ext cx="5270500" cy="324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6508750" y="7681241"/>
            <a:ext cx="5270500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6508750" y="4451174"/>
            <a:ext cx="5270500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5"/>
          <p:cNvSpPr/>
          <p:nvPr/>
        </p:nvSpPr>
        <p:spPr>
          <a:xfrm>
            <a:off x="6508750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6"/>
          <p:cNvSpPr/>
          <p:nvPr/>
        </p:nvSpPr>
        <p:spPr>
          <a:xfrm>
            <a:off x="11768667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7"/>
          <p:cNvSpPr/>
          <p:nvPr/>
        </p:nvSpPr>
        <p:spPr>
          <a:xfrm>
            <a:off x="6862135" y="4796124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62135" y="523417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assumptions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6862135" y="5712079"/>
            <a:ext cx="4700644" cy="1683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assumptions not meant to be edited in LEAP — the stock and sales trajectory, vehicle-type shares, survival and vintage profiles, freight growth and PHEV utilisation.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065001" y="4451174"/>
            <a:ext cx="5270500" cy="324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12065001" y="7681241"/>
            <a:ext cx="5270500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Shape 22"/>
          <p:cNvSpPr/>
          <p:nvPr/>
        </p:nvSpPr>
        <p:spPr>
          <a:xfrm>
            <a:off x="12065001" y="4451174"/>
            <a:ext cx="5270500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12065001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Shape 24"/>
          <p:cNvSpPr/>
          <p:nvPr/>
        </p:nvSpPr>
        <p:spPr>
          <a:xfrm>
            <a:off x="17324918" y="4451174"/>
            <a:ext cx="10583" cy="3240650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Text 25"/>
          <p:cNvSpPr/>
          <p:nvPr/>
        </p:nvSpPr>
        <p:spPr>
          <a:xfrm>
            <a:off x="12418385" y="4796124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418385" y="523417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LEAP-adjustable variables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2418385" y="5712079"/>
            <a:ext cx="4700644" cy="1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that may later be tuned in LEAP — technology sales shares, mileage and fuel-economy factors, fuel or device shares — can be pre-set and tested here first.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88386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THE INTERFACE, IN PRACTICE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researcher actually sees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3"/>
          <p:cNvSpPr/>
          <p:nvPr/>
        </p:nvSpPr>
        <p:spPr>
          <a:xfrm>
            <a:off x="952500" y="3109561"/>
            <a:ext cx="9847297" cy="5091080"/>
          </a:xfrm>
          <a:prstGeom prst="rect">
            <a:avLst/>
          </a:prstGeom>
          <a:solidFill>
            <a:srgbClr val="FFFFFF"/>
          </a:solidFill>
          <a:ln w="10583">
            <a:solidFill>
              <a:srgbClr val="D8DEE7"/>
            </a:solidFill>
            <a:prstDash val="solid"/>
          </a:ln>
          <a:effectLst>
            <a:outerShdw blurRad="285750" dist="76200" dir="5400000" algn="bl" rotWithShape="0">
              <a:srgbClr val="1B2A45">
                <a:alpha val="1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34546"/>
            <a:ext cx="13372882" cy="6899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76099" y="2098314"/>
            <a:ext cx="4011410" cy="239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economy, then run.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opens pre-filled with a sensible default — leave it as is, or override it.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13400291" y="3437659"/>
            <a:ext cx="4011410" cy="3518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· More · Ultra.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sets how many values appear — start with the few that matter, reveal the rest only if you want them. If you want more detail, let me know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3470003" y="5566225"/>
            <a:ext cx="4011410" cy="239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helper explains each row.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any input and it tells you, in plain language, what it means and what it affects.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13430745" y="7318916"/>
            <a:ext cx="4011410" cy="239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Road Model.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a change moves stock, sales and energy before anything reaches LEAP. Iterate until you are happy</a:t>
            </a:r>
          </a:p>
        </p:txBody>
      </p:sp>
      <p:sp>
        <p:nvSpPr>
          <p:cNvPr id="15" name="Text 11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pic>
        <p:nvPicPr>
          <p:cNvPr id="9" name="Picture 8" descr="Like">
            <a:extLst>
              <a:ext uri="{FF2B5EF4-FFF2-40B4-BE49-F238E27FC236}">
                <a16:creationId xmlns:a16="http://schemas.microsoft.com/office/drawing/2014/main" id="{A03CD71F-924C-0C2E-3160-DF96815E6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3563" y="8332869"/>
            <a:ext cx="752909" cy="7529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28158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THE PYTHON WORKFLOW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the inputs into a LEAP-ready package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7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 workflow converts the prepared inputs into the structure LEAP expects — and helps users check their assumptions before the full model runs.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952500" y="5361279"/>
            <a:ext cx="8658498" cy="352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into the structure LEAP expects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52500" y="5827673"/>
            <a:ext cx="84063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6"/>
          <p:cNvSpPr/>
          <p:nvPr/>
        </p:nvSpPr>
        <p:spPr>
          <a:xfrm>
            <a:off x="952500" y="5990657"/>
            <a:ext cx="8658498" cy="352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workbooks for LEAP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952500" y="6457051"/>
            <a:ext cx="84063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8"/>
          <p:cNvSpPr/>
          <p:nvPr/>
        </p:nvSpPr>
        <p:spPr>
          <a:xfrm>
            <a:off x="952500" y="6620035"/>
            <a:ext cx="8658498" cy="352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optional checks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simplified pre-LEAP simulations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10025559" y="4893860"/>
            <a:ext cx="7309776" cy="2507754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Shape 10"/>
          <p:cNvSpPr/>
          <p:nvPr/>
        </p:nvSpPr>
        <p:spPr>
          <a:xfrm>
            <a:off x="10025559" y="7391031"/>
            <a:ext cx="7309776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Shape 11"/>
          <p:cNvSpPr/>
          <p:nvPr/>
        </p:nvSpPr>
        <p:spPr>
          <a:xfrm>
            <a:off x="10025559" y="4893860"/>
            <a:ext cx="7309776" cy="21167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2"/>
          <p:cNvSpPr/>
          <p:nvPr/>
        </p:nvSpPr>
        <p:spPr>
          <a:xfrm>
            <a:off x="10025559" y="4893860"/>
            <a:ext cx="10583" cy="2507754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17324752" y="4893860"/>
            <a:ext cx="10583" cy="2507754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10378943" y="5238810"/>
            <a:ext cx="72633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 TOOL AROUND LEAP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78943" y="5676861"/>
            <a:ext cx="6801098" cy="1428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pre-LEAP checks are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projection. They help users see whether their assumptions produce sensible stock, sales, retirement and energy outcomes before the full LEAP model is run.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7068"/>
            <a:ext cx="437763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THE STOCK-FLOW SYSTEM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457068"/>
            <a:ext cx="914466" cy="3237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" y="914135"/>
            <a:ext cx="16383001" cy="19017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2506" t="4238" r="2506" b="6954"/>
          <a:stretch>
            <a:fillRect/>
          </a:stretch>
        </p:blipFill>
        <p:spPr>
          <a:xfrm>
            <a:off x="0" y="-1"/>
            <a:ext cx="18288000" cy="10287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502265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HOW THE FLEET IS PROJECTED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and freight are projected differently — on purpose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6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else, the model sets a target for how many vehicles are on the road. Passenger and freight follow different logic because different forces drive them.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952500" y="4363863"/>
            <a:ext cx="8029609" cy="3415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952500" y="7768555"/>
            <a:ext cx="80296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52500" y="4363863"/>
            <a:ext cx="8029609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952500" y="4363863"/>
            <a:ext cx="10583" cy="3415275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8971525" y="4363863"/>
            <a:ext cx="10583" cy="3415275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1305884" y="4708814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· OWNERSHIP THAT SATURATES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05884" y="5146865"/>
            <a:ext cx="8055124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grow with income, then level off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05884" y="5624768"/>
            <a:ext cx="7542525" cy="70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rises with GDP per capita, but growth fades as the economy nears a long-run saturation level — so it slows rather than rising forever.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05884" y="6444150"/>
            <a:ext cx="7542525" cy="1038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vehicle-equivalents: </a:t>
            </a: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 moves far more people than a car, so vehicles are weighted before projecting — one bus is not counted like one car.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305892" y="4363863"/>
            <a:ext cx="8029609" cy="3415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9305892" y="7768555"/>
            <a:ext cx="80296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5"/>
          <p:cNvSpPr/>
          <p:nvPr/>
        </p:nvSpPr>
        <p:spPr>
          <a:xfrm>
            <a:off x="9305892" y="4363863"/>
            <a:ext cx="8029609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6"/>
          <p:cNvSpPr/>
          <p:nvPr/>
        </p:nvSpPr>
        <p:spPr>
          <a:xfrm>
            <a:off x="9305892" y="4363863"/>
            <a:ext cx="10583" cy="3415275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Shape 17"/>
          <p:cNvSpPr/>
          <p:nvPr/>
        </p:nvSpPr>
        <p:spPr>
          <a:xfrm>
            <a:off x="17324918" y="4363863"/>
            <a:ext cx="10583" cy="3415275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9659277" y="4708814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· TIED TO THE ECONOMY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659277" y="5146865"/>
            <a:ext cx="8055124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grows with GDP, through an elasticity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9659277" y="5624768"/>
            <a:ext cx="7542525" cy="70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stock is linked to GDP growth: a single elasticity answers “if GDP grows 1%, how much should the freight fleet grow?”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59277" y="6444150"/>
            <a:ext cx="7542525" cy="70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80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kept simpler: </a:t>
            </a: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data are usually weaker, so a transparent, reviewable elasticity is preferred over a heavier tonne-kilometre model.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541592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WHERE EACH ASSUMPTION LIVES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before LEAP, or adjusted inside it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3"/>
          <p:cNvSpPr/>
          <p:nvPr/>
        </p:nvSpPr>
        <p:spPr>
          <a:xfrm>
            <a:off x="952500" y="2023776"/>
            <a:ext cx="8029609" cy="73005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Shape 4"/>
          <p:cNvSpPr/>
          <p:nvPr/>
        </p:nvSpPr>
        <p:spPr>
          <a:xfrm>
            <a:off x="952500" y="9313709"/>
            <a:ext cx="802960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952500" y="2023776"/>
            <a:ext cx="8029609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52500" y="2023776"/>
            <a:ext cx="10583" cy="7300516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8971525" y="2023776"/>
            <a:ext cx="10583" cy="7300516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8"/>
          <p:cNvSpPr/>
          <p:nvPr/>
        </p:nvSpPr>
        <p:spPr>
          <a:xfrm>
            <a:off x="1305884" y="2368727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BEFORE LEAP — STRUCTURAL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5864" y="2806778"/>
            <a:ext cx="7559060" cy="3678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stock &amp; sales trajectory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Vehicle-type shares — cars, motorcycles, buses, trucks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&amp; vintage profiles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stock-growth &amp; elasticity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 utilisation shares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Base-year stock, mileage &amp; fuel economy</a:t>
            </a:r>
            <a:endParaRPr lang="en-US" sz="1800" dirty="0"/>
          </a:p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weights, bounds &amp; rules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305892" y="2044943"/>
            <a:ext cx="8029609" cy="7300516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Shape 11"/>
          <p:cNvSpPr/>
          <p:nvPr/>
        </p:nvSpPr>
        <p:spPr>
          <a:xfrm>
            <a:off x="9305892" y="9313709"/>
            <a:ext cx="8029609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2"/>
          <p:cNvSpPr/>
          <p:nvPr/>
        </p:nvSpPr>
        <p:spPr>
          <a:xfrm>
            <a:off x="9305892" y="2023776"/>
            <a:ext cx="8029609" cy="21167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9305892" y="2023776"/>
            <a:ext cx="10583" cy="7300516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17324918" y="2023776"/>
            <a:ext cx="10583" cy="7300516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5"/>
          <p:cNvSpPr/>
          <p:nvPr/>
        </p:nvSpPr>
        <p:spPr>
          <a:xfrm>
            <a:off x="9659277" y="2368727"/>
            <a:ext cx="8055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IN LEAP — SCENARIO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59277" y="2911553"/>
            <a:ext cx="7542525" cy="33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sales shares — ICE, BEV, PHEV, FCEV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659277" y="3317754"/>
            <a:ext cx="7322840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9659277" y="3433113"/>
            <a:ext cx="7542525" cy="33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adjustment factors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659277" y="3839314"/>
            <a:ext cx="7322840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9659277" y="3954673"/>
            <a:ext cx="7542525" cy="33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Fuel-economy adjustment factors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659277" y="4360874"/>
            <a:ext cx="7322840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Text 22"/>
          <p:cNvSpPr/>
          <p:nvPr/>
        </p:nvSpPr>
        <p:spPr>
          <a:xfrm>
            <a:off x="9659277" y="4476233"/>
            <a:ext cx="7542525" cy="33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285750" indent="-285750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or device shares</a:t>
            </a:r>
            <a:r>
              <a:rPr lang="en-US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avoid adjusting PHEV utilization shares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659277" y="4882434"/>
            <a:ext cx="7322840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Text 24"/>
          <p:cNvSpPr/>
          <p:nvPr/>
        </p:nvSpPr>
        <p:spPr>
          <a:xfrm>
            <a:off x="9659277" y="4997792"/>
            <a:ext cx="7542525" cy="33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285750" indent="-285750" algn="l">
              <a:lnSpc>
                <a:spcPct val="13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Scrappage &amp; accelerated retirement </a:t>
            </a:r>
            <a:r>
              <a:rPr lang="en-US" sz="180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still needs testing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B38049-A6C4-2786-ED43-821AA59BB137}"/>
              </a:ext>
            </a:extLst>
          </p:cNvPr>
          <p:cNvSpPr txBox="1"/>
          <p:nvPr/>
        </p:nvSpPr>
        <p:spPr>
          <a:xfrm>
            <a:off x="9530701" y="8718865"/>
            <a:ext cx="8531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b="1" i="1" dirty="0"/>
              <a:t>Be careful not to adjust pre-leap variables within LEAP!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605348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STAYING CONSISTENT WITH THE DATA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year is calibrated to ESTO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6"/>
            <a:ext cx="16372417" cy="1197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energy in the base year should match the ESTO energy balances. The vehicle data are rarely complete or perfectly consistent, so some reconciliation is usually still needed.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952500" y="5512322"/>
            <a:ext cx="847914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estimated number of vehicles, their mileage and their fuel economy imply </a:t>
            </a:r>
            <a:r>
              <a:rPr lang="en-US" sz="1875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or too little fuel </a:t>
            </a:r>
            <a:r>
              <a:rPr lang="en-US" sz="18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model adjusts within reasonable bounds — so the base year stays consistent with the observed energy totals before anything reaches LEAP.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9851430" y="5319506"/>
            <a:ext cx="7484071" cy="1814546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851430" y="7123468"/>
            <a:ext cx="7484071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9851430" y="5319506"/>
            <a:ext cx="7484071" cy="21167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9851430" y="5319506"/>
            <a:ext cx="10583" cy="1814546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Shape 9"/>
          <p:cNvSpPr/>
          <p:nvPr/>
        </p:nvSpPr>
        <p:spPr>
          <a:xfrm>
            <a:off x="17324917" y="5319506"/>
            <a:ext cx="10583" cy="1814546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10204814" y="5664457"/>
            <a:ext cx="74550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204814" y="6102508"/>
            <a:ext cx="6980622" cy="73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vehicle data, reconciled to the real base-year energy balance.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475125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BASE-YEAR RECONCILIATION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mismatch with ESTO is resolved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/>
          <p:nvPr/>
        </p:nvSpPr>
        <p:spPr>
          <a:xfrm>
            <a:off x="952500" y="1966728"/>
            <a:ext cx="12950191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bottom-up estimate doesn’t match the ESTO total, the gap has to go somewhere. Rather than force one number, the model shares the correction across the inputs that are least certain.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952500" y="4331956"/>
            <a:ext cx="5308534" cy="29115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952500" y="7232947"/>
            <a:ext cx="5308534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52500" y="4331956"/>
            <a:ext cx="5308534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952500" y="4331956"/>
            <a:ext cx="10583" cy="2911574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6250451" y="4331956"/>
            <a:ext cx="10583" cy="2911574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9"/>
          <p:cNvSpPr/>
          <p:nvPr/>
        </p:nvSpPr>
        <p:spPr>
          <a:xfrm>
            <a:off x="1305884" y="4676907"/>
            <a:ext cx="5061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05884" y="5114958"/>
            <a:ext cx="5061943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05884" y="5592861"/>
            <a:ext cx="4739819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× mileage ÷ fuel economy gives a bottom-up estimate. It is measured against the ESTO fuel total to find the gap.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89568" y="4331956"/>
            <a:ext cx="5308699" cy="29115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6489568" y="7232947"/>
            <a:ext cx="5308699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6489568" y="4331956"/>
            <a:ext cx="5308699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5"/>
          <p:cNvSpPr/>
          <p:nvPr/>
        </p:nvSpPr>
        <p:spPr>
          <a:xfrm>
            <a:off x="6489568" y="4331956"/>
            <a:ext cx="10583" cy="2911574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6"/>
          <p:cNvSpPr/>
          <p:nvPr/>
        </p:nvSpPr>
        <p:spPr>
          <a:xfrm>
            <a:off x="11787684" y="4331956"/>
            <a:ext cx="10583" cy="2911574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Text 17"/>
          <p:cNvSpPr/>
          <p:nvPr/>
        </p:nvSpPr>
        <p:spPr>
          <a:xfrm>
            <a:off x="6842952" y="4676907"/>
            <a:ext cx="5062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42952" y="5114958"/>
            <a:ext cx="5062124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correction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6842952" y="5592861"/>
            <a:ext cx="4739989" cy="1354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split across stock, mileage and fuel economy using reconciliation weights — more adjustment goes to the inputs you trust least.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026801" y="4331956"/>
            <a:ext cx="5308534" cy="2911574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12026801" y="7232947"/>
            <a:ext cx="5308534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Shape 22"/>
          <p:cNvSpPr/>
          <p:nvPr/>
        </p:nvSpPr>
        <p:spPr>
          <a:xfrm>
            <a:off x="12026801" y="4331956"/>
            <a:ext cx="5308534" cy="21167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12026801" y="4331956"/>
            <a:ext cx="10583" cy="2911574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Shape 24"/>
          <p:cNvSpPr/>
          <p:nvPr/>
        </p:nvSpPr>
        <p:spPr>
          <a:xfrm>
            <a:off x="17324752" y="4331956"/>
            <a:ext cx="10583" cy="2911574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Text 25"/>
          <p:cNvSpPr/>
          <p:nvPr/>
        </p:nvSpPr>
        <p:spPr>
          <a:xfrm>
            <a:off x="12380185" y="4676907"/>
            <a:ext cx="50619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380185" y="5114958"/>
            <a:ext cx="5061943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plausible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2380185" y="5592861"/>
            <a:ext cx="4739819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 stop any value moving too far. A gap that can’t close within bounds is flagged for review, not hidden.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52500" y="7491081"/>
            <a:ext cx="1571625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7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reconciliation weights and bounds are inputs in their own right — they tell the model where the truth is most likely to sit.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52500" y="9590650"/>
            <a:ext cx="2484768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 MODEL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7125157" y="9590650"/>
            <a:ext cx="286544" cy="2391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144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215316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3F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IN SHORT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6421035" y="571500"/>
            <a:ext cx="914466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1047585"/>
            <a:ext cx="15506701" cy="5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3750" b="1" kern="0" spc="-19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from transport assumptions to energy projections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952500" y="1747573"/>
            <a:ext cx="16383001" cy="28443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3"/>
          <p:cNvSpPr/>
          <p:nvPr/>
        </p:nvSpPr>
        <p:spPr>
          <a:xfrm>
            <a:off x="952500" y="4068344"/>
            <a:ext cx="5270500" cy="25824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Shape 4"/>
          <p:cNvSpPr/>
          <p:nvPr/>
        </p:nvSpPr>
        <p:spPr>
          <a:xfrm>
            <a:off x="952500" y="6640260"/>
            <a:ext cx="5270500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5"/>
          <p:cNvSpPr/>
          <p:nvPr/>
        </p:nvSpPr>
        <p:spPr>
          <a:xfrm>
            <a:off x="952500" y="4068344"/>
            <a:ext cx="5270500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6"/>
          <p:cNvSpPr/>
          <p:nvPr/>
        </p:nvSpPr>
        <p:spPr>
          <a:xfrm>
            <a:off x="952500" y="4068344"/>
            <a:ext cx="10583" cy="2582499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6212417" y="4068344"/>
            <a:ext cx="10583" cy="2582499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8"/>
          <p:cNvSpPr/>
          <p:nvPr/>
        </p:nvSpPr>
        <p:spPr>
          <a:xfrm>
            <a:off x="1305884" y="4413295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05884" y="485134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inputs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05884" y="5329249"/>
            <a:ext cx="4700644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base-year data, set reconciliation rules, prepare projection assumptions, and test the LEAP-adjustable variables.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08750" y="4068344"/>
            <a:ext cx="5270500" cy="25824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2"/>
          <p:cNvSpPr/>
          <p:nvPr/>
        </p:nvSpPr>
        <p:spPr>
          <a:xfrm>
            <a:off x="6508750" y="6640260"/>
            <a:ext cx="5270500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3"/>
          <p:cNvSpPr/>
          <p:nvPr/>
        </p:nvSpPr>
        <p:spPr>
          <a:xfrm>
            <a:off x="6508750" y="4068344"/>
            <a:ext cx="5270500" cy="21167"/>
          </a:xfrm>
          <a:prstGeom prst="rect">
            <a:avLst/>
          </a:prstGeom>
          <a:solidFill>
            <a:srgbClr val="3F6FC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4"/>
          <p:cNvSpPr/>
          <p:nvPr/>
        </p:nvSpPr>
        <p:spPr>
          <a:xfrm>
            <a:off x="6508750" y="4068344"/>
            <a:ext cx="10583" cy="2582499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5"/>
          <p:cNvSpPr/>
          <p:nvPr/>
        </p:nvSpPr>
        <p:spPr>
          <a:xfrm>
            <a:off x="11768667" y="4068344"/>
            <a:ext cx="10583" cy="2582499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6862135" y="4413295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WORKFLOW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62135" y="485134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check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862135" y="5329249"/>
            <a:ext cx="4700644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those assumptions into LEAP-ready inputs, with quality checks and a simplified pre-LEAP simulation.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065001" y="4068344"/>
            <a:ext cx="5270500" cy="2582499"/>
          </a:xfrm>
          <a:prstGeom prst="rect">
            <a:avLst/>
          </a:prstGeom>
          <a:solidFill>
            <a:srgbClr val="E9F0F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3" name="Shape 20"/>
          <p:cNvSpPr/>
          <p:nvPr/>
        </p:nvSpPr>
        <p:spPr>
          <a:xfrm>
            <a:off x="12065001" y="6640260"/>
            <a:ext cx="5270500" cy="10583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12065001" y="4068344"/>
            <a:ext cx="5270500" cy="21167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Shape 22"/>
          <p:cNvSpPr/>
          <p:nvPr/>
        </p:nvSpPr>
        <p:spPr>
          <a:xfrm>
            <a:off x="12065001" y="4068344"/>
            <a:ext cx="10583" cy="2582499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17324918" y="4068344"/>
            <a:ext cx="10583" cy="2582499"/>
          </a:xfrm>
          <a:prstGeom prst="rect">
            <a:avLst/>
          </a:prstGeom>
          <a:solidFill>
            <a:srgbClr val="CFE0F5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Text 24"/>
          <p:cNvSpPr/>
          <p:nvPr/>
        </p:nvSpPr>
        <p:spPr>
          <a:xfrm>
            <a:off x="12418385" y="4413295"/>
            <a:ext cx="5020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2A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418385" y="4851345"/>
            <a:ext cx="5020105" cy="363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projection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2418385" y="5329249"/>
            <a:ext cx="4700644" cy="1025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 produces the official road transport energy projection within the wider APERC energy system model.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52500" y="6956945"/>
            <a:ext cx="16383001" cy="10583"/>
          </a:xfrm>
          <a:prstGeom prst="rect">
            <a:avLst/>
          </a:prstGeom>
          <a:solidFill>
            <a:srgbClr val="D8DEE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1" name="Text 28"/>
          <p:cNvSpPr/>
          <p:nvPr/>
        </p:nvSpPr>
        <p:spPr>
          <a:xfrm>
            <a:off x="952499" y="7238395"/>
            <a:ext cx="902017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where it needs to be — straightforward to use.</a:t>
            </a:r>
            <a:endParaRPr lang="en-US" sz="19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308" y="7196062"/>
            <a:ext cx="1076193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1719</Words>
  <Application>Microsoft Office PowerPoint</Application>
  <PresentationFormat>Custom</PresentationFormat>
  <Paragraphs>196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Finbar MAUNSELL</cp:lastModifiedBy>
  <cp:revision>4</cp:revision>
  <dcterms:created xsi:type="dcterms:W3CDTF">2026-06-16T04:56:23Z</dcterms:created>
  <dcterms:modified xsi:type="dcterms:W3CDTF">2026-06-24T04:34:14Z</dcterms:modified>
</cp:coreProperties>
</file>